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310896" cy="31089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44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·  TREASURY INTELLIGENCE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cash-management portal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 AMRO can call its own.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corporate digital banking — multi-bank cash, liquidity, payments and FX, delivered on ABN AMRO rails, under ABN AMRO’s brand.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5440680"/>
            <a:ext cx="2743200" cy="27432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ABN AMRO  ·  Corporate &amp; Transaction Banking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discussion document  ·  18 May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0" y="5029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every flow,</a:t>
            </a:r>
            <a:endParaRPr lang="en-US" sz="16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account,</a:t>
            </a:r>
            <a:endParaRPr lang="en-US" sz="16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entity.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CONVERSATION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moved on. The portal is now the relationship.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treasurers no longer live in bank statements and file uploads. They live in a screen — and the bank that owns that screen owns the data, the flow, and the next mandate.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724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— BANK-CENTRIC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4892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bank, one portal, one set of balances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statements, manual consolidation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stitches the picture in spreadsheets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is a utility, easily swapped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440680" cy="338328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724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TREASURER-CENTRIC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090672"/>
            <a:ext cx="4892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bank, every account, one live cockpit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positions, FX-honest, self-serve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does the synthesis, not the treasurer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is the relationship — and it is sticky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leaves ABN AMRO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on your corporate franchise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fragment cash across many banks — including competitors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are set by fintech-grade UX, not legacy host-to-host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modern portal in-house is multi-year and high-risk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vendors &amp; aggregators are quietly disintermediating the bank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800600" cy="406908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0" y="1783080"/>
            <a:ext cx="91440" cy="406908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103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0" y="249631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the treasurer the best multi-bank cockpit on the market — and put ABN AMRO’s name on it.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223760" y="411480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becomes the client’s daily home. Retention, primary-bank status, and new digital fee revenue follow the screen.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APERTURE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portal you deploy — not a project you start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is a production-ready corporate digital-banking platform with a cash-management core, designed from day one to be white-labelled and multi-tenant.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26700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94436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3474720"/>
            <a:ext cx="22677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 today — not slideware. Live multi-bank data, real liquidity engines.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4136" y="2743200"/>
            <a:ext cx="26700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94436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&amp; multi-tenant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75304" y="3474720"/>
            <a:ext cx="22677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your domain, your clients — isolated per corporate, themed to ABN AMRO.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5352" y="2743200"/>
            <a:ext cx="26700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94436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Cash-management core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2677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Positions, liquidity, payments, FX and intercompany — the treasurer’s full mandate.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16568" y="2743200"/>
            <a:ext cx="26700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17736" y="294436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0" name="Text 18"/>
          <p:cNvSpPr/>
          <p:nvPr/>
        </p:nvSpPr>
        <p:spPr>
          <a:xfrm>
            <a:off x="9317736" y="31089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Multi-bank by design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17736" y="3474720"/>
            <a:ext cx="226771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ABN AMRO and third-party banks — the view no single bank can offer.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corporate treasurer’s morning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 AMRO–branded Cash Position cockpit — the first screen the treasurer opens, every day.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landing: consolidated cash, action queue, FX — live across every bank.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treasurers trust: per-currency truth, no synthetic cross-currency total.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freshness per account — stale balances flagged before they bite.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glance reinforces the ABN AMRO relationship.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portal, the whole cash-management mandate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visibility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Consolidated, FX-honest position across every bank &amp; currency.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21488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Multi-bank liquidity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2514600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freshness and distribution across all banks — incl. competitors.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9016" y="1783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14884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&amp; approvals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30184" y="2514600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payments, POBO/COBO, multi-level approval workspace.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" y="3968496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413308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structures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" y="4498848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Sweeps, pooling, in-house bank, netting — modelled before you commit.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15968" y="376732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17136" y="3968496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413308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4498848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Sourced, executable rates in the treasurer’s flow, next to the position.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29016" y="376732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0184" y="3968496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413308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intelligence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30184" y="4498848"/>
            <a:ext cx="32095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assistant over positions, sweeps and statements.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MULTI-BANK LIQUIDITY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bank. Even the ones that aren’t you.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multi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Multi-Bank Liquidity — aggregate position and cross-bank distribution.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balances across all banks — including competitors.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Home-bank vs external split, value-weighted distribution.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control-tower view no single bank can show its client.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effect: ABN AMRO becomes the client’s liquidity hub.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LIQUIDITY STRUCTURES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Cross-bank cash concentration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cash-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Concentration — cross-bank sweep orchestration.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sweeps across banks, not just within ABN AMRO.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target balances, thresholds, schedules.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idle cash to where it earns or offsets.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sees what moved, what is queued, what is blocked.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LIQUIDITY STRUCTURES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Notional pooling &amp; interest optimisation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notional-p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Pooling — pool structures and interest optimisation.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pools without physically moving cash.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debit and credit positions across entities.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benefit applied and visible to the treasurer.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Structure-aware: entities, currencies, participants.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LIQUIDITY STRUCTURES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In-house bank: intercompany at scale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in-house-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Bank — intercompany loans, deposits and positions.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loans and deposits between group entities.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POBO / COBO — pay and collect on behalf of subsidiaries.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external payment volume, fees and float.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treasury becomes its own bank — on your rails.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DECISION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the structure before you commit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by design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shadows, sweep rules and pools on your live model — with zero live writes.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Score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7024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scored, FX- and charge-aware — trade-offs quantified, not guessed.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 &amp; compare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408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 design against the live structure; compare scenarios side by side.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427024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 &amp; propose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27024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alternatives, promote the winner via a Propose hand-off — fully audited.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1783080"/>
            <a:ext cx="3886200" cy="379476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1783080"/>
            <a:ext cx="91440" cy="379476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ABN AMRO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42316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Treasurers won’t restructure cash on a hunch. A safe, scored what-if tool turns “should we change the pool?” into an ABN AMRO-led, evidence-backed conversation — and the changes that follow run on your rails.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LIQUIDITY STRUCTURES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Netting that pays for itself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Cycle-based netting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many gross intercompany settlements into a few net ones.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FX trades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7024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exposures before they hit the market — lower spread cost.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wires &amp; fees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408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removed settlement removes a transfer charge and float.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427024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27024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cycle: participants, gross, net and saving — fully traceable.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1783080"/>
            <a:ext cx="3886200" cy="379476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1783080"/>
            <a:ext cx="91440" cy="379476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ABN AMRO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42316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netting engine is a hard build clients won’t do alone — offering it on your portal deepens the mandate and the fee relationship, while the savings make the portal self-justifying to the client’s CFO.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PAYMENTS &amp; COLLECTIONS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Payments, approvals, ISO 20022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workspace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 with expiry awareness — approve/reject on the row.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 20022 native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7024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pain.001 / camt / CBPR+ and SWIFT references inline.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POBO / COBO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408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and collect on behalf of subsidiaries, first-class.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427024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&amp; audited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27024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segregation of duties, full trail on every instruction.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1783080"/>
            <a:ext cx="3886200" cy="379476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1783080"/>
            <a:ext cx="91440" cy="379476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ABN AMRO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42316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is where trust is won or lost. A controlled, standards-native workspace on ABN AMRO rails keeps high-value flow — and the data that comes with it — inside your franchise.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FX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 in the treasurer’s 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Sourced rates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/ central-bank / partner feeds, attributed and timestamped.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148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context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70248" y="251460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sit next to the exposure that needs them — no app-switching.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by design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408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the data supports is shown — no fabricated moves.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374904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395020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4270248" y="4114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execute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270248" y="448056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“see the exposure” to “act on it” without leaving the portal.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1783080"/>
            <a:ext cx="3886200" cy="379476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1783080"/>
            <a:ext cx="91440" cy="379476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ABN AMRO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42316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is a prime fee line. Surfacing dealable, sourced rates where the treasurer already works routes more flow to ABN AMRO’s desk instead of a third-party platform.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TREASURY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treasury anything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629400" cy="4177665"/>
          </a:xfrm>
          <a:prstGeom prst="rect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pic>
        <p:nvPicPr>
          <p:cNvPr id="6" name="Image 0" descr="C:\Users\BHATTACHARYAMrSUBRAT\AVD5\vam-portal\.deckgen\assets\co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0588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Copilot — natural-language treasury assistant (preview).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0" y="1828800"/>
            <a:ext cx="4389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assistant over positions, sweeps, statements.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our AED position?” · “Show failed sweeps today.”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differentiator few bank portals offer today.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now, with a clear roadmap to deeper automation.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for a bank to deploy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supportable stack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22677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Spring Boot 3, PostgreSQL, Docker — technology your engineering can 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78308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access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75304" y="2514600"/>
            <a:ext cx="22677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Spring Security, scoped multi-tenant isolation, full audit trail.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178308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 20022 native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22677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/ camt / CBPR+ messaging — speaks the language of your core and the network.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16568" y="178308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17736" y="1984248"/>
            <a:ext cx="109728" cy="109728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17736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Resilience: BaNCS fallback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17736" y="2514600"/>
            <a:ext cx="22677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Store-locally, sync-later when the core is unreachable — treasury keeps working.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11155680" cy="13716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434840"/>
            <a:ext cx="91440" cy="137160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617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9560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refuses to fabricate numbers it cannot source — no fake cross-currency totals, no invented FX moves. For a treasurer making real decisions, that restraint is the feature.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brand. Your rails. Your clients.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128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 AMRO corporate clients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Treasurers &amp; finance teams, multi-entity, multi-currency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6732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24528" y="1874520"/>
            <a:ext cx="3749040" cy="2286000"/>
          </a:xfrm>
          <a:prstGeom prst="rect">
            <a:avLst/>
          </a:prstGeom>
          <a:solidFill>
            <a:srgbClr val="102A43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1688" y="221284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 AMRO-branded Aperture portal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61688" y="3127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theme · multi-tenant · API-first · your domain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2843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85632" y="1874520"/>
            <a:ext cx="3154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22792" y="221284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 AMRO core / BaNCS  +  third-party banks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22792" y="31272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· host-to-host · partner-bank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Brandable theme &amp; domain — it reads as an ABN AMRO product end-to-end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per corporate client; scoped data and access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integration to your core, BaNCS and partner banks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go-live: pilot cohort → expand → full rollout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12801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71323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Aperture, and why now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in-house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Multi-year, high execution risk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while clients churn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maintain it forever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C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2011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TMS / aggregator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brand — disintermediates you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loyalty shifts to the vendor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multi-bank, your data leaks out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9872" y="1783080"/>
            <a:ext cx="3611880" cy="2880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19872" y="1783080"/>
            <a:ext cx="3611880" cy="8229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3" name="Text 11"/>
          <p:cNvSpPr/>
          <p:nvPr/>
        </p:nvSpPr>
        <p:spPr>
          <a:xfrm>
            <a:off x="8348472" y="2011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Aperture, white-label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48472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live in months not years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Multi-bank cockpit clients stay in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primacy, new fee revenue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for ABN AMRO:  stickier corporate relationships  ·  primary-bank status defended  ·  faster time-to-market  ·  a new digital revenue line.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 ×  ABN AMRO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16775" y="6473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274320" cy="274320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7863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7C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put ABN AMRO’s name on it.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520440" cy="22860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97480"/>
            <a:ext cx="3520440" cy="8229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branding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workshop: brand, priority client cohort, integration map.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97480"/>
            <a:ext cx="3520440" cy="22860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697480"/>
            <a:ext cx="3520440" cy="8229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00600" y="3611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pilot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weeks: ABN AMRO-themed portal, live with a small client cohort.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697480"/>
            <a:ext cx="3520440" cy="2286000"/>
          </a:xfrm>
          <a:prstGeom prst="rect">
            <a:avLst/>
          </a:prstGeom>
          <a:solidFill>
            <a:srgbClr val="102A43"/>
          </a:solidFill>
          <a:ln/>
          <a:effectLst>
            <a:outerShdw sx="100000" sy="100000" kx="0" ky="0" algn="bl" rotWithShape="0" blurRad="114300" dist="38100" dir="8100000">
              <a:srgbClr val="0B1B2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697480"/>
            <a:ext cx="3520440" cy="82296"/>
          </a:xfrm>
          <a:prstGeom prst="rect">
            <a:avLst/>
          </a:prstGeom>
          <a:solidFill>
            <a:srgbClr val="C184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4023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cohorts, deepen integration, scale to the corporate base.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C8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Aperture  ·  See every flow, every account, every entity.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ABN AMRO  ·  Corporate &amp; Transaction Banking  ·  18 May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Aperture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Aperture — Corporate Cash-Management Portal for ABN AMRO</dc:title>
  <dc:subject>PptxGenJS Presentation</dc:subject>
  <dc:creator>Aperture</dc:creator>
  <cp:lastModifiedBy>Aperture</cp:lastModifiedBy>
  <cp:revision>1</cp:revision>
  <dcterms:created xsi:type="dcterms:W3CDTF">2026-05-18T09:53:07Z</dcterms:created>
  <dcterms:modified xsi:type="dcterms:W3CDTF">2026-05-18T09:53:07Z</dcterms:modified>
</cp:coreProperties>
</file>